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55600" algn="just"/>
            <a:r>
              <a:rPr lang="zh-CN" altLang="en-US"/>
              <a:t>目前我在王崇骏教授指导下，负责大创项目</a:t>
            </a:r>
            <a:r>
              <a:rPr lang="en-US" altLang="zh-CN"/>
              <a:t>“</a:t>
            </a:r>
            <a:r>
              <a:rPr lang="zh-CN" altLang="en-US"/>
              <a:t>面向</a:t>
            </a:r>
            <a:r>
              <a:rPr lang="en-US" altLang="zh-CN"/>
              <a:t>Agent</a:t>
            </a:r>
            <a:r>
              <a:rPr lang="zh-CN" altLang="en-US"/>
              <a:t>能力增强的模型编织与工具选择研究</a:t>
            </a:r>
            <a:r>
              <a:rPr lang="en-US" altLang="zh-CN"/>
              <a:t>”</a:t>
            </a:r>
            <a:r>
              <a:rPr lang="zh-CN" altLang="en-US"/>
              <a:t>该研究的核心目标，是让智能体在复杂任务中能</a:t>
            </a:r>
            <a:r>
              <a:rPr lang="zh-CN" altLang="en-US" b="1"/>
              <a:t>自主选择与组合模型和工具</a:t>
            </a:r>
            <a:r>
              <a:rPr lang="zh-CN" altLang="en-US"/>
              <a:t>，实现</a:t>
            </a:r>
            <a:r>
              <a:rPr lang="zh-CN" altLang="en-US" b="1"/>
              <a:t>动态适配与决策优化</a:t>
            </a:r>
            <a:r>
              <a:rPr lang="zh-CN" altLang="en-US"/>
              <a:t>。我们的方案包括</a:t>
            </a:r>
            <a:r>
              <a:rPr lang="zh-CN" altLang="en-US" b="1"/>
              <a:t>任务理解、模型编织、强化学习优化和多智能体协作</a:t>
            </a:r>
            <a:r>
              <a:rPr lang="zh-CN" altLang="en-US"/>
              <a:t>等环节。简而言之，就是让</a:t>
            </a:r>
            <a:r>
              <a:rPr lang="en-US" altLang="zh-CN"/>
              <a:t>AI</a:t>
            </a:r>
            <a:r>
              <a:rPr lang="zh-CN" altLang="en-US"/>
              <a:t>从</a:t>
            </a:r>
            <a:r>
              <a:rPr lang="en-US" altLang="zh-CN"/>
              <a:t>“</a:t>
            </a:r>
            <a:r>
              <a:rPr lang="zh-CN" altLang="en-US"/>
              <a:t>执行任务</a:t>
            </a:r>
            <a:r>
              <a:rPr lang="en-US" altLang="zh-CN"/>
              <a:t>”</a:t>
            </a:r>
            <a:r>
              <a:rPr lang="zh-CN" altLang="en-US"/>
              <a:t>走向</a:t>
            </a:r>
            <a:r>
              <a:rPr lang="en-US" altLang="zh-CN"/>
              <a:t>“</a:t>
            </a:r>
            <a:r>
              <a:rPr lang="zh-CN" altLang="en-US"/>
              <a:t>理解任务</a:t>
            </a:r>
            <a:r>
              <a:rPr lang="en-US" altLang="zh-CN"/>
              <a:t>”</a:t>
            </a:r>
            <a:r>
              <a:rPr lang="zh-CN" altLang="en-US"/>
              <a:t>，提升模型在不同应用场景下的泛化与协同能力。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422EB-0BB4-428C-833B-F1CA04E349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55600" algn="just"/>
            <a:r>
              <a:rPr lang="zh-CN" altLang="en-US"/>
              <a:t>目前我在王崇骏教授指导下，负责大创项目</a:t>
            </a:r>
            <a:r>
              <a:rPr lang="en-US" altLang="zh-CN"/>
              <a:t>“</a:t>
            </a:r>
            <a:r>
              <a:rPr lang="zh-CN" altLang="en-US"/>
              <a:t>面向</a:t>
            </a:r>
            <a:r>
              <a:rPr lang="en-US" altLang="zh-CN"/>
              <a:t>Agent</a:t>
            </a:r>
            <a:r>
              <a:rPr lang="zh-CN" altLang="en-US"/>
              <a:t>能力增强的模型编织与工具选择研究</a:t>
            </a:r>
            <a:r>
              <a:rPr lang="en-US" altLang="zh-CN"/>
              <a:t>”</a:t>
            </a:r>
            <a:r>
              <a:rPr lang="zh-CN" altLang="en-US"/>
              <a:t>该研究的核心目标，是让智能体在复杂任务中能</a:t>
            </a:r>
            <a:r>
              <a:rPr lang="zh-CN" altLang="en-US" b="1"/>
              <a:t>自主选择与组合模型和工具</a:t>
            </a:r>
            <a:r>
              <a:rPr lang="zh-CN" altLang="en-US"/>
              <a:t>，实现</a:t>
            </a:r>
            <a:r>
              <a:rPr lang="zh-CN" altLang="en-US" b="1"/>
              <a:t>动态适配与决策优化</a:t>
            </a:r>
            <a:r>
              <a:rPr lang="zh-CN" altLang="en-US"/>
              <a:t>。我们的方案包括</a:t>
            </a:r>
            <a:r>
              <a:rPr lang="zh-CN" altLang="en-US" b="1"/>
              <a:t>任务理解、模型编织、强化学习优化和多智能体协作</a:t>
            </a:r>
            <a:r>
              <a:rPr lang="zh-CN" altLang="en-US"/>
              <a:t>等环节。简而言之，就是让</a:t>
            </a:r>
            <a:r>
              <a:rPr lang="en-US" altLang="zh-CN"/>
              <a:t>AI</a:t>
            </a:r>
            <a:r>
              <a:rPr lang="zh-CN" altLang="en-US"/>
              <a:t>从</a:t>
            </a:r>
            <a:r>
              <a:rPr lang="en-US" altLang="zh-CN"/>
              <a:t>“</a:t>
            </a:r>
            <a:r>
              <a:rPr lang="zh-CN" altLang="en-US"/>
              <a:t>执行任务</a:t>
            </a:r>
            <a:r>
              <a:rPr lang="en-US" altLang="zh-CN"/>
              <a:t>”</a:t>
            </a:r>
            <a:r>
              <a:rPr lang="zh-CN" altLang="en-US"/>
              <a:t>走向</a:t>
            </a:r>
            <a:r>
              <a:rPr lang="en-US" altLang="zh-CN"/>
              <a:t>“</a:t>
            </a:r>
            <a:r>
              <a:rPr lang="zh-CN" altLang="en-US"/>
              <a:t>理解任务</a:t>
            </a:r>
            <a:r>
              <a:rPr lang="en-US" altLang="zh-CN"/>
              <a:t>”</a:t>
            </a:r>
            <a:r>
              <a:rPr lang="zh-CN" altLang="en-US"/>
              <a:t>，提升模型在不同应用场景下的泛化与协同能力。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422EB-0BB4-428C-833B-F1CA04E349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/>
        </p:nvSpPr>
        <p:spPr>
          <a:xfrm>
            <a:off x="0" y="-30479"/>
            <a:ext cx="12192000" cy="573769"/>
          </a:xfrm>
          <a:prstGeom prst="parallelogram">
            <a:avLst>
              <a:gd name="adj" fmla="val 0"/>
            </a:avLst>
          </a:prstGeom>
          <a:gradFill>
            <a:gsLst>
              <a:gs pos="16000">
                <a:srgbClr val="88136E">
                  <a:alpha val="78000"/>
                </a:srgbClr>
              </a:gs>
              <a:gs pos="0">
                <a:srgbClr val="B4009E"/>
              </a:gs>
              <a:gs pos="99351">
                <a:srgbClr val="B85A9A">
                  <a:lumMod val="75000"/>
                </a:srgbClr>
              </a:gs>
              <a:gs pos="77000">
                <a:srgbClr val="6A005F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srgbClr val="6A005F">
                <a:alpha val="40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endParaRPr lang="zh-CN" altLang="en-US" sz="2800" b="1" kern="0" dirty="0">
              <a:solidFill>
                <a:prstClr val="whit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alphaModFix amt="2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516" y="9441654"/>
            <a:ext cx="2733690" cy="342673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alphaModFix amt="2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143" y="9441654"/>
            <a:ext cx="2733690" cy="3426738"/>
          </a:xfrm>
          <a:prstGeom prst="rect">
            <a:avLst/>
          </a:prstGeom>
        </p:spPr>
      </p:pic>
      <p:pic>
        <p:nvPicPr>
          <p:cNvPr id="43" name="图片 42" descr="紫色的图案&#10;&#10;中度可信度描述已自动生成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8079"/>
          <a:stretch>
            <a:fillRect/>
          </a:stretch>
        </p:blipFill>
        <p:spPr>
          <a:xfrm>
            <a:off x="10902861" y="23847"/>
            <a:ext cx="637311" cy="53167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9560" y="-11590"/>
            <a:ext cx="720057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28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现有科研</a:t>
            </a:r>
            <a:endParaRPr lang="zh-CN" altLang="en-US" sz="28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sz="28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4025" y="765175"/>
            <a:ext cx="69183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面向</a:t>
            </a:r>
            <a:r>
              <a:rPr lang="en-US" altLang="zh-CN" sz="24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能力增强的模型编织与工具选择研究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61860" y="765175"/>
            <a:ext cx="3580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项目初步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设计：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4"/>
          <p:cNvSpPr/>
          <p:nvPr/>
        </p:nvSpPr>
        <p:spPr>
          <a:xfrm>
            <a:off x="1817370" y="2051685"/>
            <a:ext cx="3107055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任务理解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箭头: 下 29"/>
          <p:cNvSpPr/>
          <p:nvPr/>
        </p:nvSpPr>
        <p:spPr>
          <a:xfrm>
            <a:off x="3165475" y="2533015"/>
            <a:ext cx="410210" cy="394970"/>
          </a:xfrm>
          <a:prstGeom prst="downArrow">
            <a:avLst/>
          </a:prstGeom>
          <a:gradFill flip="none" rotWithShape="1">
            <a:gsLst>
              <a:gs pos="0">
                <a:srgbClr val="466DDA">
                  <a:lumMod val="100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14"/>
          <p:cNvSpPr/>
          <p:nvPr/>
        </p:nvSpPr>
        <p:spPr>
          <a:xfrm>
            <a:off x="1817370" y="2949575"/>
            <a:ext cx="3107055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调用模型与工具库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0830" y="2379980"/>
            <a:ext cx="2462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对输入进行特征提取与相似性和需求分析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4"/>
          <p:cNvSpPr/>
          <p:nvPr/>
        </p:nvSpPr>
        <p:spPr>
          <a:xfrm>
            <a:off x="1816735" y="3829050"/>
            <a:ext cx="3107690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动态模型组合（编织）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箭头: 下 29"/>
          <p:cNvSpPr/>
          <p:nvPr/>
        </p:nvSpPr>
        <p:spPr>
          <a:xfrm>
            <a:off x="3165475" y="3399155"/>
            <a:ext cx="410210" cy="394970"/>
          </a:xfrm>
          <a:prstGeom prst="downArrow">
            <a:avLst/>
          </a:prstGeom>
          <a:gradFill flip="none" rotWithShape="1">
            <a:gsLst>
              <a:gs pos="0">
                <a:srgbClr val="466DDA">
                  <a:lumMod val="100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4"/>
          <p:cNvSpPr/>
          <p:nvPr/>
        </p:nvSpPr>
        <p:spPr>
          <a:xfrm>
            <a:off x="5759450" y="3810635"/>
            <a:ext cx="3107055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基于强化学习优化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箭头: 下 29"/>
          <p:cNvSpPr/>
          <p:nvPr/>
        </p:nvSpPr>
        <p:spPr>
          <a:xfrm rot="5400000">
            <a:off x="5038090" y="3818255"/>
            <a:ext cx="410210" cy="394970"/>
          </a:xfrm>
          <a:prstGeom prst="downArrow">
            <a:avLst/>
          </a:prstGeom>
          <a:gradFill flip="none" rotWithShape="1">
            <a:gsLst>
              <a:gs pos="0">
                <a:srgbClr val="466DDA">
                  <a:lumMod val="100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箭头: 下 29"/>
          <p:cNvSpPr/>
          <p:nvPr/>
        </p:nvSpPr>
        <p:spPr>
          <a:xfrm>
            <a:off x="3165475" y="4300220"/>
            <a:ext cx="410210" cy="394970"/>
          </a:xfrm>
          <a:prstGeom prst="downArrow">
            <a:avLst/>
          </a:prstGeom>
          <a:gradFill flip="none" rotWithShape="1">
            <a:gsLst>
              <a:gs pos="0">
                <a:srgbClr val="466DDA">
                  <a:lumMod val="100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14"/>
          <p:cNvSpPr/>
          <p:nvPr/>
        </p:nvSpPr>
        <p:spPr>
          <a:xfrm>
            <a:off x="1817370" y="4726940"/>
            <a:ext cx="3107055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多智能体协作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箭头: 下 29"/>
          <p:cNvSpPr/>
          <p:nvPr/>
        </p:nvSpPr>
        <p:spPr>
          <a:xfrm>
            <a:off x="3165475" y="5197475"/>
            <a:ext cx="410210" cy="394970"/>
          </a:xfrm>
          <a:prstGeom prst="downArrow">
            <a:avLst/>
          </a:prstGeom>
          <a:gradFill flip="none" rotWithShape="1">
            <a:gsLst>
              <a:gs pos="0">
                <a:srgbClr val="466DDA">
                  <a:lumMod val="100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: 圆角 14"/>
          <p:cNvSpPr/>
          <p:nvPr/>
        </p:nvSpPr>
        <p:spPr>
          <a:xfrm>
            <a:off x="1817370" y="5597525"/>
            <a:ext cx="3107055" cy="414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gradFill>
              <a:gsLst>
                <a:gs pos="0">
                  <a:schemeClr val="bg1"/>
                </a:gs>
                <a:gs pos="42000">
                  <a:srgbClr val="6ACCF2"/>
                </a:gs>
                <a:gs pos="100000">
                  <a:srgbClr val="2497EA"/>
                </a:gs>
              </a:gsLst>
              <a:lin ang="8100000" scaled="0"/>
            </a:gra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31750"/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下游任务解决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77485" y="5010785"/>
            <a:ext cx="3243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跨任务知识共享、 任务分解与模型协调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81000" y="1562100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项目整体架构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/>
        </p:nvSpPr>
        <p:spPr>
          <a:xfrm>
            <a:off x="0" y="-30479"/>
            <a:ext cx="12192000" cy="573769"/>
          </a:xfrm>
          <a:prstGeom prst="parallelogram">
            <a:avLst>
              <a:gd name="adj" fmla="val 0"/>
            </a:avLst>
          </a:prstGeom>
          <a:gradFill>
            <a:gsLst>
              <a:gs pos="16000">
                <a:srgbClr val="88136E">
                  <a:alpha val="78000"/>
                </a:srgbClr>
              </a:gs>
              <a:gs pos="0">
                <a:srgbClr val="B4009E"/>
              </a:gs>
              <a:gs pos="99351">
                <a:srgbClr val="B85A9A">
                  <a:lumMod val="75000"/>
                </a:srgbClr>
              </a:gs>
              <a:gs pos="77000">
                <a:srgbClr val="6A005F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srgbClr val="6A005F">
                <a:alpha val="40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endParaRPr lang="zh-CN" altLang="en-US" sz="2800" b="1" kern="0" dirty="0">
              <a:solidFill>
                <a:prstClr val="whit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alphaModFix amt="2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516" y="9441654"/>
            <a:ext cx="2733690" cy="342673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alphaModFix amt="2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143" y="9441654"/>
            <a:ext cx="2733690" cy="3426738"/>
          </a:xfrm>
          <a:prstGeom prst="rect">
            <a:avLst/>
          </a:prstGeom>
        </p:spPr>
      </p:pic>
      <p:pic>
        <p:nvPicPr>
          <p:cNvPr id="43" name="图片 42" descr="紫色的图案&#10;&#10;中度可信度描述已自动生成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8079"/>
          <a:stretch>
            <a:fillRect/>
          </a:stretch>
        </p:blipFill>
        <p:spPr>
          <a:xfrm>
            <a:off x="10902861" y="23847"/>
            <a:ext cx="637311" cy="53167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9560" y="-11590"/>
            <a:ext cx="720057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28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现有科研</a:t>
            </a:r>
            <a:endParaRPr lang="zh-CN" altLang="en-US" sz="28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endParaRPr lang="zh-CN" altLang="en-US" sz="28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4025" y="765175"/>
            <a:ext cx="691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系统整体</a:t>
            </a:r>
            <a:r>
              <a: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架构：</a:t>
            </a:r>
            <a:endParaRPr lang="zh-CN" altLang="en-US" sz="2400" b="1" noProof="0" dirty="0">
              <a:ln>
                <a:noFill/>
              </a:ln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3" name="图片 12" descr="面向Agent能力增强的模型编织与工具选择研究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045" y="1323340"/>
            <a:ext cx="6433820" cy="47961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WPS 演示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华文行楷</vt:lpstr>
      <vt:lpstr>微软雅黑</vt:lpstr>
      <vt:lpstr>Times New Roman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胡先锦</cp:lastModifiedBy>
  <cp:revision>5</cp:revision>
  <dcterms:created xsi:type="dcterms:W3CDTF">2023-08-09T12:44:00Z</dcterms:created>
  <dcterms:modified xsi:type="dcterms:W3CDTF">2025-10-21T08:17:57Z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CCB0D031C8574C859655E5BF775DE60E_12</vt:lpwstr>
  </property>
</Properties>
</file>